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24"/>
  </p:notesMasterIdLst>
  <p:handoutMasterIdLst>
    <p:handoutMasterId r:id="rId25"/>
  </p:handoutMasterIdLst>
  <p:sldIdLst>
    <p:sldId id="890" r:id="rId5"/>
    <p:sldId id="891" r:id="rId6"/>
    <p:sldId id="893" r:id="rId7"/>
    <p:sldId id="894" r:id="rId8"/>
    <p:sldId id="895" r:id="rId9"/>
    <p:sldId id="905" r:id="rId10"/>
    <p:sldId id="906" r:id="rId11"/>
    <p:sldId id="907" r:id="rId12"/>
    <p:sldId id="896" r:id="rId13"/>
    <p:sldId id="897" r:id="rId14"/>
    <p:sldId id="898" r:id="rId15"/>
    <p:sldId id="899" r:id="rId16"/>
    <p:sldId id="900" r:id="rId17"/>
    <p:sldId id="901" r:id="rId18"/>
    <p:sldId id="902" r:id="rId19"/>
    <p:sldId id="904" r:id="rId20"/>
    <p:sldId id="908" r:id="rId21"/>
    <p:sldId id="909" r:id="rId22"/>
    <p:sldId id="910" r:id="rId23"/>
  </p:sldIdLst>
  <p:sldSz cx="9144000" cy="6858000" type="screen4x3"/>
  <p:notesSz cx="6858000" cy="9947275"/>
  <p:custDataLst>
    <p:tags r:id="rId2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33"/>
    <a:srgbClr val="CC9900"/>
    <a:srgbClr val="FF99CC"/>
    <a:srgbClr val="161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3" autoAdjust="0"/>
    <p:restoredTop sz="94608" autoAdjust="0"/>
  </p:normalViewPr>
  <p:slideViewPr>
    <p:cSldViewPr showGuides="1">
      <p:cViewPr varScale="1">
        <p:scale>
          <a:sx n="132" d="100"/>
          <a:sy n="132" d="100"/>
        </p:scale>
        <p:origin x="384" y="126"/>
      </p:cViewPr>
      <p:guideLst>
        <p:guide orient="horz" pos="219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tags" Target="tags/tag9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35ECC31-B2EE-4F08-B963-51589D57E802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880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944880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2A3E25D-6983-4369-BAA3-51431C8A8209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2975" y="746125"/>
            <a:ext cx="4972050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5029200" cy="4476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50388"/>
            <a:ext cx="29718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50388"/>
            <a:ext cx="29718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1CA62FB-D1CD-4E67-A496-156C9EF4772D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C56851-88C2-4635-B174-5A68876DFCA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FF6B24-90A0-4DC1-BC53-2B6500E3F08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1E6D3E-4762-418E-9AB9-B5210D4A865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CEB905-B78D-47D7-8D87-EAE4E5DC796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F39E99-BEFC-42F5-87E6-583F954AC49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0F8B1D-5479-4976-8E53-75DB9C08A5E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13959C-7B39-47D3-820A-AF5C37E2843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A5BCDB-9B3A-40D1-A274-B5EFA6F16E6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CCFD45-43CB-4B4B-8340-336AB40550E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6B3838-987F-4237-8224-4145BE49885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0013" y="215900"/>
            <a:ext cx="2084387" cy="58039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215900"/>
            <a:ext cx="6102350" cy="58039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02C10A-8852-4ACE-AF45-88363C10170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>
    <p:sndAc>
      <p:endSnd/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0013" y="228600"/>
            <a:ext cx="2084387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0235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FDB4C-B201-4A0B-9DB5-42DC9DB51EB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3ED449-CA8D-4829-A69C-D3367092835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4E23DC-E305-4497-87CE-4EF121C12E4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EB1F46-C512-438E-A9FD-8F1A08D51CC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5533F-03BE-49BC-9C37-2D233E91F81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82C505-64A0-4AC6-8321-915200A201F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9152A4-1605-408A-8DF6-A53D64D8948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83A6E4-7C42-4EAE-ACBE-4A2DCDFCBE6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C1EC04-AA99-44F3-AFC0-EF0CBFA5A02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5EFB8-F5E9-4679-B925-7955A91B52E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33648C-18B3-4CC9-8B7A-BCA970B78F6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0" y="927100"/>
            <a:ext cx="8991600" cy="4495800"/>
            <a:chOff x="0" y="584"/>
            <a:chExt cx="5664" cy="2832"/>
          </a:xfrm>
        </p:grpSpPr>
        <p:sp>
          <p:nvSpPr>
            <p:cNvPr id="1032" name="AutoShape 3"/>
            <p:cNvSpPr>
              <a:spLocks noChangeArrowheads="1"/>
            </p:cNvSpPr>
            <p:nvPr userDrawn="1"/>
          </p:nvSpPr>
          <p:spPr bwMode="auto">
            <a:xfrm>
              <a:off x="432" y="1304"/>
              <a:ext cx="4656" cy="2112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4"/>
            <p:cNvSpPr>
              <a:spLocks noChangeArrowheads="1"/>
            </p:cNvSpPr>
            <p:nvPr userDrawn="1"/>
          </p:nvSpPr>
          <p:spPr bwMode="blackWhite">
            <a:xfrm>
              <a:off x="144" y="584"/>
              <a:ext cx="4512" cy="62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AutoShape 5"/>
            <p:cNvSpPr>
              <a:spLocks noChangeArrowheads="1"/>
            </p:cNvSpPr>
            <p:nvPr userDrawn="1"/>
          </p:nvSpPr>
          <p:spPr bwMode="blackWhite">
            <a:xfrm>
              <a:off x="0" y="872"/>
              <a:ext cx="5664" cy="1152"/>
            </a:xfrm>
            <a:custGeom>
              <a:avLst/>
              <a:gdLst>
                <a:gd name="T0" fmla="*/ 0 w 4917"/>
                <a:gd name="T1" fmla="*/ 0 h 1000"/>
                <a:gd name="T2" fmla="*/ 18165 w 4917"/>
                <a:gd name="T3" fmla="*/ 0 h 1000"/>
                <a:gd name="T4" fmla="*/ 20225 w 4917"/>
                <a:gd name="T5" fmla="*/ 2060 h 1000"/>
                <a:gd name="T6" fmla="*/ 18169 w 4917"/>
                <a:gd name="T7" fmla="*/ 4115 h 1000"/>
                <a:gd name="T8" fmla="*/ 0 w 4917"/>
                <a:gd name="T9" fmla="*/ 4115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7"/>
                <a:gd name="T16" fmla="*/ 0 h 1000"/>
                <a:gd name="T17" fmla="*/ 2459 w 4917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" name="Line 6"/>
            <p:cNvSpPr>
              <a:spLocks noChangeShapeType="1"/>
            </p:cNvSpPr>
            <p:nvPr userDrawn="1"/>
          </p:nvSpPr>
          <p:spPr bwMode="auto">
            <a:xfrm>
              <a:off x="0" y="1928"/>
              <a:ext cx="5232" cy="0"/>
            </a:xfrm>
            <a:prstGeom prst="line">
              <a:avLst/>
            </a:prstGeom>
            <a:noFill/>
            <a:ln w="508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15900"/>
            <a:ext cx="8015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7148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53163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latin typeface="+mn-lt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1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148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AA319BD7-F04A-47FF-B512-5EC206901B5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>
    <p:sndAc>
      <p:endSnd/>
    </p:sndAc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 b="1">
          <a:solidFill>
            <a:srgbClr val="0000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 bwMode="auto">
          <a:xfrm>
            <a:off x="0" y="115888"/>
            <a:ext cx="8686800" cy="6096000"/>
            <a:chOff x="0" y="96"/>
            <a:chExt cx="5472" cy="3840"/>
          </a:xfrm>
        </p:grpSpPr>
        <p:sp>
          <p:nvSpPr>
            <p:cNvPr id="2054" name="AutoShape 3"/>
            <p:cNvSpPr>
              <a:spLocks noChangeArrowheads="1"/>
            </p:cNvSpPr>
            <p:nvPr userDrawn="1"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055" name="AutoShape 4"/>
            <p:cNvSpPr>
              <a:spLocks noChangeArrowheads="1"/>
            </p:cNvSpPr>
            <p:nvPr userDrawn="1"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T0" fmla="*/ 0 w 7000"/>
                <a:gd name="T1" fmla="*/ 0 h 1000"/>
                <a:gd name="T2" fmla="*/ 464 w 7000"/>
                <a:gd name="T3" fmla="*/ 0 h 1000"/>
                <a:gd name="T4" fmla="*/ 499 w 7000"/>
                <a:gd name="T5" fmla="*/ 36 h 1000"/>
                <a:gd name="T6" fmla="*/ 464 w 7000"/>
                <a:gd name="T7" fmla="*/ 71 h 1000"/>
                <a:gd name="T8" fmla="*/ 0 w 7000"/>
                <a:gd name="T9" fmla="*/ 71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00"/>
                <a:gd name="T16" fmla="*/ 0 h 1000"/>
                <a:gd name="T17" fmla="*/ 3500 w 7000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" name="Line 5"/>
            <p:cNvSpPr>
              <a:spLocks noChangeShapeType="1"/>
            </p:cNvSpPr>
            <p:nvPr userDrawn="1"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1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28600"/>
            <a:ext cx="8015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2053" name="Picture 11" descr="index2008_0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50" y="6245225"/>
            <a:ext cx="183197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 advClick="0">
    <p:sndAc>
      <p:endSnd/>
    </p:sndAc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 b="1">
          <a:solidFill>
            <a:srgbClr val="0000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80AFE1A0-EB92-4602-BFAE-145726FE8F68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4674235"/>
          </a:xfrm>
        </p:spPr>
        <p:txBody>
          <a:bodyPr/>
          <a:lstStyle/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批处理系统的主要缺点是：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D</a:t>
            </a:r>
            <a:endParaRPr lang="zh-CN" altLang="en-US" sz="20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系统的吞吐量小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B. CPU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利用率不高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资源利用率低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D.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无交互能力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实时系统的进程调度，通常采用（</a:t>
            </a:r>
            <a:r>
              <a:rPr lang="en-US" altLang="zh-CN" sz="2000" b="1" dirty="0" smtClean="0">
                <a:solidFill>
                  <a:srgbClr val="FF0000"/>
                </a:solidFill>
                <a:sym typeface="+mn-ea"/>
              </a:rPr>
              <a:t>C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）算法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A.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先来先服务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           B.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时间片轮转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C.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抢占式的优先级高者优先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D.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高响应比优先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（多选）与单道程序系统相比，多道程序系统的优点是：</a:t>
            </a:r>
            <a:r>
              <a:rPr lang="en-US" altLang="zh-CN" sz="2000" b="1" dirty="0" smtClean="0">
                <a:solidFill>
                  <a:srgbClr val="FF0000"/>
                </a:solidFill>
                <a:sym typeface="+mn-ea"/>
              </a:rPr>
              <a:t>B,C,D</a:t>
            </a:r>
            <a:endParaRPr lang="zh-CN" altLang="en-US" sz="20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A.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系统开销小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  B. CPU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利用率高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C.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系统吞吐量大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D. I/O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设备利用率高</a:t>
            </a: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活学活用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7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37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 advAuto="0" autoUpdateAnimBg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4674235"/>
          </a:xfrm>
        </p:spPr>
        <p:txBody>
          <a:bodyPr/>
          <a:lstStyle/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（多选）下列说法中，正确的是：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B,D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100" b="1" dirty="0" smtClean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批处理系统的主要缺点是需要大量的内存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endParaRPr lang="en-US" altLang="zh-CN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100" b="1" dirty="0" smtClean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B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当计算机提供了内核态和用户态时，输入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输出指令必须在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内核态下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执行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100" b="1" dirty="0" smtClean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操作系统采用多道程序设计技术的主要原因是提高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和外部设备的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可靠性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100" b="1" dirty="0" smtClean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D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DMA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是一种硬件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技术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中断发生后，中断处理程序属于</a:t>
            </a:r>
            <a:r>
              <a:rPr lang="en-US" altLang="zh-CN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 </a:t>
            </a:r>
            <a:r>
              <a:rPr lang="en-US" altLang="zh-CN" sz="2000" b="1" dirty="0" smtClean="0">
                <a:solidFill>
                  <a:srgbClr val="FF0000"/>
                </a:solidFill>
                <a:sym typeface="+mn-ea"/>
              </a:rPr>
              <a:t>B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A.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用户程序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          B.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操作系统程序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C.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可能是操作系统程序，也可能是用户程序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D.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既不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是操作系统程序，也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不是用户程序</a:t>
            </a: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活学活用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7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 advAuto="0" autoUpdateAnimBg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4674235"/>
          </a:xfrm>
        </p:spPr>
        <p:txBody>
          <a:bodyPr/>
          <a:lstStyle/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一个进程释放了一台打印机，它可能会改变（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C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）状态：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自身进程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B.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输入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输出进程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另一个等待打印机的进程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D.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所有等待打印机的进程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若一个进程实体由</a:t>
            </a:r>
            <a:r>
              <a:rPr lang="en-US" altLang="zh-CN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PCB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、共享正文段、数据堆段、数据栈段组成，请指出下列</a:t>
            </a:r>
            <a:r>
              <a:rPr lang="en-US" altLang="zh-CN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C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语言程序中的内容各位于那一段中。</a:t>
            </a: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sym typeface="+mn-ea"/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/>
            </a:pPr>
            <a:r>
              <a:rPr lang="en-US" altLang="zh-CN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    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全局变量（</a:t>
            </a:r>
            <a:r>
              <a:rPr lang="en-US" altLang="zh-CN" sz="2000" b="1" dirty="0" smtClean="0">
                <a:solidFill>
                  <a:srgbClr val="FF0000"/>
                </a:solidFill>
                <a:sym typeface="+mn-ea"/>
              </a:rPr>
              <a:t>B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），未赋值局部变量（</a:t>
            </a:r>
            <a:r>
              <a:rPr lang="en-US" altLang="zh-CN" sz="2000" b="1" dirty="0" smtClean="0">
                <a:solidFill>
                  <a:srgbClr val="FF0000"/>
                </a:solidFill>
                <a:sym typeface="+mn-ea"/>
              </a:rPr>
              <a:t>D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），函数调用时的参数（</a:t>
            </a:r>
            <a:r>
              <a:rPr lang="en-US" altLang="zh-CN" sz="2000" b="1" dirty="0" smtClean="0">
                <a:solidFill>
                  <a:srgbClr val="FF0000"/>
                </a:solidFill>
                <a:sym typeface="+mn-ea"/>
              </a:rPr>
              <a:t>D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），用</a:t>
            </a:r>
            <a:r>
              <a:rPr lang="en-US" altLang="zh-CN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malloc()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动态分配的存储区（</a:t>
            </a:r>
            <a:r>
              <a:rPr lang="en-US" altLang="zh-CN" sz="2000" b="1" dirty="0" smtClean="0">
                <a:solidFill>
                  <a:srgbClr val="FF0000"/>
                </a:solidFill>
                <a:sym typeface="+mn-ea"/>
              </a:rPr>
              <a:t>C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），进程优先级（</a:t>
            </a:r>
            <a:r>
              <a:rPr lang="en-US" altLang="zh-CN" sz="2000" b="1" dirty="0" smtClean="0">
                <a:solidFill>
                  <a:srgbClr val="FF0000"/>
                </a:solidFill>
                <a:sym typeface="+mn-ea"/>
              </a:rPr>
              <a:t>A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）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A. PCB           B.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正文段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C.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堆段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D.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栈段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进程自身决定（</a:t>
            </a:r>
            <a:r>
              <a:rPr lang="en-US" altLang="zh-CN" sz="2000" b="1" dirty="0" smtClean="0">
                <a:solidFill>
                  <a:srgbClr val="FF0000"/>
                </a:solidFill>
                <a:sym typeface="+mn-ea"/>
              </a:rPr>
              <a:t>A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）</a:t>
            </a: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sym typeface="+mn-ea"/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A.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从运行态到阻塞态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B.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从运行态到就绪态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C.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从就绪态到运行态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D.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从阻塞态到就绪态</a:t>
            </a: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活学活用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37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37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 advAuto="0" autoUpdateAnimBg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4674235"/>
          </a:xfrm>
        </p:spPr>
        <p:txBody>
          <a:bodyPr/>
          <a:lstStyle/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下列关于父进程和子进程的叙述中，说法错误的是：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B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父进程与子进程可以并发执行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B.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父进程和子进程共享虚拟地址空间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父进程与子进程有不同的进程控制块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父进程与子进程不能同时使用临界资源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下列选项中，会导致进程从执行态变为就绪态的事件是（</a:t>
            </a:r>
            <a:r>
              <a:rPr lang="en-US" altLang="zh-CN" sz="2000" b="1" dirty="0" smtClean="0">
                <a:solidFill>
                  <a:srgbClr val="FF0000"/>
                </a:solidFill>
                <a:sym typeface="+mn-ea"/>
              </a:rPr>
              <a:t>D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）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A.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执行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wait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原语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         B.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申请内存失败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C.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启动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设备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           D.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被高优先级进程抢占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下列选项中，降低进程优先级的合适时机是：</a:t>
            </a:r>
            <a:r>
              <a:rPr lang="en-US" altLang="zh-CN" sz="2000" b="1" dirty="0" smtClean="0">
                <a:solidFill>
                  <a:srgbClr val="FF0000"/>
                </a:solidFill>
                <a:sym typeface="+mn-ea"/>
              </a:rPr>
              <a:t>A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A.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进程时间片用完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B.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进程刚完成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操作，进入就绪队列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C.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长期处于就绪队列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D.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进程从就绪态转为</a:t>
            </a:r>
            <a:r>
              <a:rPr 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运行态</a:t>
            </a: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活学活用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37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37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379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 advAuto="0" autoUpdateAnimBg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4674235"/>
          </a:xfrm>
        </p:spPr>
        <p:txBody>
          <a:bodyPr/>
          <a:lstStyle/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对用户级线程，当一个多线程进程中的某个线程被阻塞后：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B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该进程的其他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线程仍可继续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B.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整个进程都将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阻塞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该阻塞线程将被撤销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D.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该阻塞线程将永远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不可能再执行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下面的叙述中正确的是（</a:t>
            </a:r>
            <a:r>
              <a:rPr lang="en-US" altLang="zh-CN" sz="2000" b="1" dirty="0" smtClean="0">
                <a:solidFill>
                  <a:srgbClr val="FF0000"/>
                </a:solidFill>
                <a:sym typeface="+mn-ea"/>
              </a:rPr>
              <a:t>D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）</a:t>
            </a: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sym typeface="+mn-ea"/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A.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引入线程后，处理器只能在线程间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切换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/>
            </a:pP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B.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引入线程后，处理器仍在进程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间切换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线程的切换，不会引起进程的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切换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线程的切换，可能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会引起进程的切换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在支持多线程的系统中，进程</a:t>
            </a:r>
            <a:r>
              <a:rPr lang="en-US" altLang="zh-CN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A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创建的若干线程不能共享的是：</a:t>
            </a:r>
            <a:r>
              <a:rPr lang="en-US" altLang="zh-CN" sz="2000" b="1" dirty="0" smtClean="0">
                <a:solidFill>
                  <a:srgbClr val="FF0000"/>
                </a:solidFill>
                <a:sym typeface="+mn-ea"/>
              </a:rPr>
              <a:t>D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A.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的代码段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  B.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中打开的文件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C.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的全局变量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D.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中某线程的栈指针</a:t>
            </a: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活学活用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37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37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 advAuto="0" autoUpdateAnimBg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4674235"/>
          </a:xfrm>
        </p:spPr>
        <p:txBody>
          <a:bodyPr/>
          <a:lstStyle/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两个生产者进程分别输出</a:t>
            </a:r>
            <a:r>
              <a:rPr lang="en-US" altLang="zh-CN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A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、</a:t>
            </a:r>
            <a:r>
              <a:rPr lang="en-US" altLang="zh-CN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B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两种数据，一个消费者进程利用</a:t>
            </a:r>
            <a:r>
              <a:rPr lang="en-US" altLang="zh-CN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A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、</a:t>
            </a:r>
            <a:r>
              <a:rPr lang="en-US" altLang="zh-CN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B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两种数据计算显示数据</a:t>
            </a:r>
            <a:r>
              <a:rPr lang="en-US" altLang="zh-CN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C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，</a:t>
            </a:r>
            <a:r>
              <a:rPr lang="en-US" altLang="zh-CN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A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和</a:t>
            </a:r>
            <a:r>
              <a:rPr lang="en-US" altLang="zh-CN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B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两种数据分别被放在两个循环队列</a:t>
            </a:r>
            <a:r>
              <a:rPr lang="en-US" altLang="zh-CN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F1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和</a:t>
            </a:r>
            <a:r>
              <a:rPr lang="en-US" altLang="zh-CN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F2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上，队列容量都是</a:t>
            </a:r>
            <a:r>
              <a:rPr lang="en-US" altLang="zh-CN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10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个。请用信号量进行正确管理。</a:t>
            </a: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</a:t>
            </a:r>
            <a:r>
              <a:rPr lang="en-US" altLang="zh-CN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   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首先两个缓冲区各有一个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生产者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进程和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消费者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进程，没必要互斥访问</a:t>
            </a:r>
            <a:endParaRPr lang="en-US" altLang="zh-CN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1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Semaphore empty1=10, </a:t>
            </a:r>
            <a:r>
              <a:rPr lang="en-US" altLang="zh-CN" sz="1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empty2=10</a:t>
            </a:r>
            <a:r>
              <a:rPr lang="en-US" altLang="zh-CN" sz="1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en-US" altLang="zh-CN" sz="1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endParaRPr lang="zh-CN" altLang="en-US" sz="14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1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Semaphore full1=0, </a:t>
            </a:r>
            <a:r>
              <a:rPr lang="en-US" altLang="zh-CN" sz="1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full2=0</a:t>
            </a:r>
            <a:r>
              <a:rPr lang="en-US" altLang="zh-CN" sz="1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;</a:t>
            </a:r>
            <a:endParaRPr lang="en-US" altLang="zh-CN" sz="14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活学活用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3305" y="3860800"/>
            <a:ext cx="2286000" cy="2256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lang="zh-CN" altLang="en-US" sz="1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生产者</a:t>
            </a:r>
            <a:r>
              <a:rPr lang="en-US" altLang="zh-CN" sz="1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endParaRPr lang="en-US" altLang="zh-CN" sz="16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/>
            <a:r>
              <a:rPr lang="en-US" altLang="zh-C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while(1)</a:t>
            </a:r>
            <a:endParaRPr lang="en-US" altLang="zh-CN" sz="16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/>
            <a:r>
              <a:rPr lang="en-US" altLang="zh-C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en-US" altLang="zh-CN" sz="16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indent="0" latinLnBrk="0">
              <a:lnSpc>
                <a:spcPts val="2300"/>
              </a:lnSpc>
            </a:pP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生产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SemWait(empty1);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放入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F1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SemSignal(full1);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63620" y="3844290"/>
            <a:ext cx="2286000" cy="2256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lang="zh-CN" altLang="en-US" sz="1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生产者</a:t>
            </a:r>
            <a:r>
              <a:rPr lang="en-US" altLang="zh-CN" sz="1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endParaRPr lang="en-US" altLang="zh-CN" sz="16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/>
            <a:r>
              <a:rPr lang="en-US" altLang="zh-C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while(1)</a:t>
            </a:r>
            <a:endParaRPr lang="en-US" altLang="zh-CN" sz="16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/>
            <a:r>
              <a:rPr lang="en-US" altLang="zh-C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en-US" altLang="zh-CN" sz="16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indent="0" latinLnBrk="0">
              <a:lnSpc>
                <a:spcPts val="2300"/>
              </a:lnSpc>
            </a:pP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生产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SemWait(empty2);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放入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F2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SemSignal(full2);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28080" y="2999740"/>
            <a:ext cx="2524125" cy="31407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lang="zh-CN" altLang="en-US" sz="1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消费者</a:t>
            </a:r>
            <a:endParaRPr lang="en-US" altLang="zh-CN" sz="16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/>
            <a:r>
              <a:rPr lang="en-US" altLang="zh-C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while(1)</a:t>
            </a:r>
            <a:endParaRPr lang="en-US" altLang="zh-CN" sz="16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/>
            <a:r>
              <a:rPr lang="en-US" altLang="zh-C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en-US" altLang="zh-CN" sz="16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SemWait(full1);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取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SemSignal(empty1);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SemWait(full2);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取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SemSignal(empty2);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indent="0" latinLnBrk="0">
              <a:lnSpc>
                <a:spcPts val="2300"/>
              </a:lnSpc>
            </a:pP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计算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，并显示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 advAuto="0" autoUpdateAnimBg="0" uiExpand="1" build="p"/>
      <p:bldP spid="2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4674235"/>
          </a:xfrm>
        </p:spPr>
        <p:txBody>
          <a:bodyPr/>
          <a:lstStyle/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多个生产者，多个消费者，一个缓冲区，要求消费者连续取出</a:t>
            </a:r>
            <a:r>
              <a:rPr lang="en-US" altLang="zh-CN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10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件产品后，其它消费者才可以取数。</a:t>
            </a: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</a:t>
            </a:r>
            <a:r>
              <a:rPr lang="en-US" altLang="zh-CN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   </a:t>
            </a:r>
            <a:r>
              <a:rPr lang="en-US" altLang="zh-CN" sz="1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Semaphore empty=N, </a:t>
            </a:r>
            <a:r>
              <a:rPr lang="en-US" altLang="zh-CN" sz="1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full=0</a:t>
            </a:r>
            <a:r>
              <a:rPr lang="en-US" altLang="zh-CN" sz="1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;</a:t>
            </a:r>
            <a:endParaRPr lang="en-US" altLang="zh-CN" sz="14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/>
            </a:pPr>
            <a:r>
              <a:rPr lang="en-US" altLang="zh-CN" sz="1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</a:t>
            </a:r>
            <a:r>
              <a:rPr lang="en-US" altLang="zh-CN" sz="1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Semaphore mutex1=1, mutex2</a:t>
            </a:r>
            <a:r>
              <a:rPr lang="en-US" altLang="zh-CN" sz="1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=1;</a:t>
            </a:r>
            <a:endParaRPr lang="en-US" altLang="zh-CN" sz="14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/>
            </a:pPr>
            <a:endParaRPr lang="en-US" altLang="zh-CN" sz="14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活学活用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1550" y="2996565"/>
            <a:ext cx="3173095" cy="2846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lang="zh-CN" altLang="en-US" sz="1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生产者</a:t>
            </a:r>
            <a:endParaRPr lang="en-US" altLang="zh-CN" sz="16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/>
            <a:r>
              <a:rPr lang="en-US" altLang="zh-C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while(1)</a:t>
            </a:r>
            <a:endParaRPr lang="en-US" altLang="zh-CN" sz="16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/>
            <a:r>
              <a:rPr lang="en-US" altLang="zh-C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en-US" altLang="zh-CN" sz="16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indent="0" latinLnBrk="0">
              <a:lnSpc>
                <a:spcPts val="2300"/>
              </a:lnSpc>
            </a:pP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生产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SemWait(empty);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SemWait(mutex1);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放入缓冲区</a:t>
            </a:r>
            <a:endParaRPr lang="zh-CN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SemSignal(mutex1);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SemSignal(full);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47845" y="2636520"/>
            <a:ext cx="4196715" cy="40259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lang="zh-CN" altLang="en-US" sz="1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消费者</a:t>
            </a:r>
            <a:endParaRPr lang="en-US" altLang="zh-CN" sz="16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/>
            <a:r>
              <a:rPr lang="en-US" altLang="zh-C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while(1)</a:t>
            </a:r>
            <a:endParaRPr lang="en-US" altLang="zh-CN" sz="16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/>
            <a:r>
              <a:rPr lang="en-US" altLang="zh-C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en-US" altLang="zh-CN" sz="16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SemWait(mutex2);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for(int i=0;i&lt;10;i++)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	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SemWait(full);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	SemWait(mutex1);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457200" latinLnBrk="0">
              <a:lnSpc>
                <a:spcPts val="2300"/>
              </a:lnSpc>
            </a:pP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取</a:t>
            </a:r>
            <a:endParaRPr lang="zh-CN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	SemSignal(mutex1);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45720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SemSignal(empty);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SemSignal(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mutex2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 advAuto="0" autoUpdateAnimBg="0" uiExpand="1" build="p"/>
      <p:bldP spid="2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4674235"/>
          </a:xfrm>
        </p:spPr>
        <p:txBody>
          <a:bodyPr/>
          <a:lstStyle/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理发店中只有一位理发师，</a:t>
            </a:r>
            <a:r>
              <a:rPr lang="en-US" altLang="zh-CN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n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把供顾客等待的椅子，顾客若发现已经坐满就会离开，请用信号量进行正确管理。</a:t>
            </a: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</a:t>
            </a:r>
            <a:r>
              <a:rPr lang="en-US" altLang="zh-CN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   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信号量无法处理离开的情况，必须引入变量</a:t>
            </a:r>
            <a:endParaRPr lang="en-US" altLang="zh-CN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/>
            </a:pPr>
            <a:r>
              <a:rPr lang="en-US" altLang="zh-CN" sz="16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int waiting=0；</a:t>
            </a:r>
            <a:endParaRPr lang="en-US" altLang="zh-CN" sz="16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1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Semaphore customers=0;  mutex=1;</a:t>
            </a:r>
            <a:endParaRPr lang="en-US" altLang="zh-CN" sz="14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活学活用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87450" y="3356610"/>
            <a:ext cx="3300095" cy="3241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lang="zh-CN" alt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顾客</a:t>
            </a:r>
            <a:endParaRPr lang="en-US" altLang="zh-CN" sz="16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SemWait(mutex);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if(waiting&lt;n)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/>
            <a:r>
              <a:rPr lang="en-US" altLang="zh-C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en-US" altLang="zh-CN" sz="16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waiting++;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按顺序坐椅子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SemSignal(customers);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SemSignal(mutex);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en-US" altLang="zh-C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45720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SemSignal(mutex);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/>
            <a:endParaRPr lang="en-US" altLang="zh-C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27855" y="3356610"/>
            <a:ext cx="4424045" cy="33870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lang="zh-C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理发师</a:t>
            </a:r>
            <a:endParaRPr lang="zh-CN" sz="16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/>
            <a:r>
              <a:rPr lang="en-US" altLang="zh-C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while(1)</a:t>
            </a:r>
            <a:endParaRPr lang="en-US" altLang="zh-CN" sz="16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/>
            <a:r>
              <a:rPr lang="en-US" altLang="zh-C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endParaRPr lang="en-US" altLang="zh-CN" sz="16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lvl="1" indent="45720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SemWait(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customers</a:t>
            </a: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SemWait(mutex);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waiting--;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把第一张等候椅上的顾客叫到理发椅上</a:t>
            </a:r>
            <a:endParaRPr lang="zh-CN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latinLnBrk="0">
              <a:lnSpc>
                <a:spcPts val="2300"/>
              </a:lnSpc>
            </a:pP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其它顾客向前移动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SemSignal(mutex);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1" indent="0" latinLnBrk="0">
              <a:lnSpc>
                <a:spcPts val="23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</a:t>
            </a:r>
            <a:r>
              <a:rPr lang="zh-CN" altLang="en-US" sz="1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理发</a:t>
            </a:r>
            <a:endParaRPr lang="en-US" altLang="zh-C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/>
            <a:endParaRPr lang="en-US" altLang="zh-C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 advAuto="0" autoUpdateAnimBg="0" uiExpand="1" build="p"/>
      <p:bldP spid="6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活学活用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下列调度算法中，（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）算法一定是抢占式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的：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时间片轮转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 B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先来先服务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短进程优先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 D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优先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级调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度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latinLnBrk="0">
              <a:spcBef>
                <a:spcPts val="120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关于优先级叙述正确的是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(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)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计算型作业的优先级，应高于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型作业的优先级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用户进程的优先级应高于系统进程的优先级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随着作业等待时间的增加，优先权应下降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随着进程执行时间的增加，优先权应下降</a:t>
            </a:r>
            <a:endParaRPr lang="en-US" altLang="zh-CN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zh-CN" altLang="en-US"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活学活用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分时系统实现时间片轮转调度需要使用的是（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）：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Ⅰ 进程控制块      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Ⅱ 时钟中断处理程序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Ⅲ 进程就绪队列 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Ⅳ 进程阻塞队列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latinLnBrk="0">
              <a:spcBef>
                <a:spcPts val="1200"/>
              </a:spcBef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仅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Ⅱ、Ⅲ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仅Ⅱ、Ⅳ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仅Ⅰ、Ⅱ、Ⅲ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仅Ⅰ、Ⅱ、Ⅳ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可以引起进程调度程度程序执行的是（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）：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Ⅰ 中断处理结束        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Ⅱ 进程阻塞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Ⅲ 进程执行结束  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Ⅳ 进程的时间片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用完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仅Ⅰ、Ⅲ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仅Ⅱ、Ⅳ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仅Ⅲ、Ⅳ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仅Ⅰ、Ⅱ、Ⅲ、Ⅳ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endParaRPr lang="zh-CN" alt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活学活用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215" y="1341120"/>
            <a:ext cx="8505190" cy="494601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请求分页存储管理中，若把页面尺寸增大一倍，而页数不变，则缺页中断会（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增加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B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减少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不变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D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可能增加也可能减少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进程在执行中发生了缺页中断，经操作系统处理后，应让其执行（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）指令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被中断的前一条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B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被中断的那一条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被中断的后一条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D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启动时的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第一条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主存容量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1MB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，外存容量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400M,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计算机地址寄存器有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位，则虚存最大容量是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1MB        B 401MB      C 1MB+2</a:t>
            </a:r>
            <a:r>
              <a:rPr lang="en-US" altLang="zh-CN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         D  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32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活学活用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215" y="1341120"/>
            <a:ext cx="8505190" cy="494601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在虚拟分页存储管理系统中，若进程访问的页面不再主存中，且没有可用的页框，则正确的处理顺序是（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决定淘汰页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→页面调出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→缺页中断→页面调入</a:t>
            </a:r>
            <a:endParaRPr lang="zh-CN" alt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决定淘汰页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页面调入→缺页中断→页面调出</a:t>
            </a:r>
            <a:endParaRPr lang="zh-CN" alt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 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缺页中断→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决定淘汰页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→页面调出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→页面调入</a:t>
            </a:r>
            <a:endParaRPr lang="zh-CN" alt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 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缺页中断→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决定淘汰页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→页面调入</a:t>
            </a: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→页面调出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分页式，采用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48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位虚地址，页面大小为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4KB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，页表项大小为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8B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，则采用（）级页表，页内偏移（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位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 3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12         B  3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14         C  4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12        D  4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14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活学活用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215" y="1341120"/>
            <a:ext cx="8505190" cy="494601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多选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）影响请求分页系统平均访存时间的是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A,B,C,D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缺页率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B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磁盘读写时间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内存访问时间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D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执行缺页处理程序的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时间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活学活用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>
          <a:xfrm>
            <a:off x="323215" y="1341120"/>
            <a:ext cx="8505190" cy="4946015"/>
          </a:xfrm>
        </p:spPr>
        <p:txBody>
          <a:bodyPr/>
          <a:lstStyle/>
          <a:p>
            <a:pPr marL="0" indent="0" latinLnBrk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假设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CR3=0x0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，页长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4K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，请详细描述将线性地址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0x00006F12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通过二级页表转换为物理地址的过程？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latinLnBrk="0">
              <a:lnSpc>
                <a:spcPts val="3200"/>
              </a:lnSpc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atinLnBrk="0">
              <a:lnSpc>
                <a:spcPts val="32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每一页内有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个页表项，所以一个页表项将占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个字节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atinLnBrk="0">
              <a:lnSpc>
                <a:spcPts val="32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页目录表第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项，这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个字节将低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位清零，得到下级页表的起始地址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atinLnBrk="0">
              <a:lnSpc>
                <a:spcPts val="32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下级页表的第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项，将页表起始地址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+0x18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，得到页表项的地址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atinLnBrk="0">
              <a:lnSpc>
                <a:spcPts val="32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将此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个字节页表项中高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位作为物理地址的高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atinLnBrk="0">
              <a:lnSpc>
                <a:spcPts val="32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物理地址的低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位位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0xF12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latinLnBrk="0">
              <a:lnSpc>
                <a:spcPts val="32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活学活用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>
          <a:xfrm>
            <a:off x="395605" y="1341120"/>
            <a:ext cx="8505190" cy="4946015"/>
          </a:xfrm>
        </p:spPr>
        <p:txBody>
          <a:bodyPr/>
          <a:lstStyle/>
          <a:p>
            <a:pPr marL="0" indent="0" latinLnBrk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假设页目录表在内存地址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0x0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，页长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4K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，请根据下图物理内存中的实际存储情况，详细描述将线性地址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0x004067FA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通过二级页表转换为物理地址的过程？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4" descr="ac692c70071e26a270755a787b4ddbb"/>
          <p:cNvPicPr>
            <a:picLocks noChangeAspect="1"/>
          </p:cNvPicPr>
          <p:nvPr/>
        </p:nvPicPr>
        <p:blipFill>
          <a:blip r:embed="rId1"/>
          <a:srcRect l="655"/>
          <a:stretch>
            <a:fillRect/>
          </a:stretch>
        </p:blipFill>
        <p:spPr>
          <a:xfrm>
            <a:off x="683895" y="3068955"/>
            <a:ext cx="3407483" cy="80867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-2147482620" descr="f01f9aedfa32b9bddbf948eb39a23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535" y="2917190"/>
            <a:ext cx="3481687" cy="111156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内容占位符 4"/>
          <p:cNvSpPr>
            <a:spLocks noGrp="1"/>
          </p:cNvSpPr>
          <p:nvPr/>
        </p:nvSpPr>
        <p:spPr>
          <a:xfrm>
            <a:off x="323850" y="4220845"/>
            <a:ext cx="8505190" cy="23736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atinLnBrk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页目录表第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项，且低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位清零，得到下级页表的起始地址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latinLnBrk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0x00002000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atinLnBrk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下级页表的第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项，得到页表项的地址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0x00002018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atinLnBrk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物理地址的高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位为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0x00406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atinLnBrk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物理地址的低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位位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0x7FA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atinLnBrk="0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则物理地址为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0x004067FA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活学活用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4630"/>
            <a:ext cx="8229600" cy="4525963"/>
          </a:xfrm>
        </p:spPr>
        <p:txBody>
          <a:bodyPr/>
          <a:p>
            <a:pPr marL="0" indent="0" algn="just" latinLnBrk="0">
              <a:lnSpc>
                <a:spcPts val="3500"/>
              </a:lnSpc>
              <a:spcBef>
                <a:spcPts val="0"/>
              </a:spcBef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设给文件分配外存空间采用的是混合索引分配方式，该文件的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inode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节点中有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个直接块，一级、二级、三级间接块各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个，索引块和数据块的大小均为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4KB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，块地址需要占用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个字节。假设该进程要从文件开始处顺序读入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2M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的数据到进程内存空间，请描述操作过程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latinLnBrk="0">
              <a:lnSpc>
                <a:spcPts val="3500"/>
              </a:lnSpc>
              <a:spcBef>
                <a:spcPts val="0"/>
              </a:spcBef>
              <a:buNone/>
            </a:pP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0">
              <a:lnSpc>
                <a:spcPts val="3500"/>
              </a:lnSpc>
              <a:spcBef>
                <a:spcPts val="0"/>
              </a:spcBef>
            </a:pP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逐级目录查找，直到找到该文件的</a:t>
            </a:r>
            <a:r>
              <a:rPr lang="en-US" altLang="zh-CN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节点，将读入内存</a:t>
            </a:r>
            <a:endParaRPr lang="zh-CN" altLang="en-US" sz="24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0">
              <a:lnSpc>
                <a:spcPts val="3500"/>
              </a:lnSpc>
              <a:spcBef>
                <a:spcPts val="0"/>
              </a:spcBef>
            </a:pP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基于直接块中的信息，读入</a:t>
            </a:r>
            <a:r>
              <a:rPr lang="en-US" altLang="zh-CN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40KB</a:t>
            </a: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4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0">
              <a:lnSpc>
                <a:spcPts val="3500"/>
              </a:lnSpc>
              <a:spcBef>
                <a:spcPts val="0"/>
              </a:spcBef>
            </a:pP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读入一级索引块</a:t>
            </a:r>
            <a:endParaRPr lang="zh-CN" altLang="en-US" sz="24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0">
              <a:lnSpc>
                <a:spcPts val="3500"/>
              </a:lnSpc>
              <a:spcBef>
                <a:spcPts val="0"/>
              </a:spcBef>
            </a:pP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根据一级索引块中信息，读入</a:t>
            </a:r>
            <a:r>
              <a:rPr lang="en-US" altLang="zh-CN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502</a:t>
            </a: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个物理块，共</a:t>
            </a:r>
            <a:r>
              <a:rPr lang="en-US" altLang="zh-CN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2008KB</a:t>
            </a:r>
            <a:endParaRPr lang="en-US" altLang="zh-CN" sz="24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0">
              <a:lnSpc>
                <a:spcPts val="3500"/>
              </a:lnSpc>
              <a:spcBef>
                <a:spcPts val="0"/>
              </a:spcBef>
            </a:pP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</a:t>
            </a:r>
            <a:r>
              <a:rPr lang="en-US" altLang="zh-CN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2M</a:t>
            </a: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的数据。</a:t>
            </a:r>
            <a:endParaRPr lang="zh-CN" altLang="en-US" sz="24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latinLnBrk="0">
              <a:lnSpc>
                <a:spcPts val="3500"/>
              </a:lnSpc>
              <a:spcBef>
                <a:spcPts val="0"/>
              </a:spcBef>
              <a:buNone/>
            </a:pPr>
            <a:endParaRPr lang="zh-CN" altLang="en-US" sz="24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活学活用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215" y="1268730"/>
            <a:ext cx="8505190" cy="528574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某文件系统的簇和磁盘扇区大小分别为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1KB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512B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。若一个文件大小为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1026B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，则系统分配给该文件的磁盘空间大小是（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1026B     B 1536B     C 1538B      D 2048B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latinLnBrk="0">
              <a:spcBef>
                <a:spcPts val="12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某文件系统的目录项由文件名和索引节点构成。若某个目录项长度为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64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字节，其中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字节放索引节点号，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字节存放文件名。则该文件系统能创建的文件数量上限为（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）：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2</a:t>
            </a:r>
            <a:r>
              <a:rPr lang="en-US" altLang="zh-CN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26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B 2</a:t>
            </a:r>
            <a:r>
              <a:rPr lang="en-US" altLang="zh-CN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32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C 2</a:t>
            </a:r>
            <a:r>
              <a:rPr lang="en-US" altLang="zh-CN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60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D2</a:t>
            </a:r>
            <a:r>
              <a:rPr lang="en-US" altLang="zh-CN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64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latinLnBrk="0">
              <a:spcBef>
                <a:spcPts val="12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文件系统用位图发表示磁盘空间的分配情况，位图存于磁盘的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32~127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号块中，每个盘块占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1024B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，盘块和块内自己均从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开始编号，假设要释放的盘块号为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409612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，则位图种要修改的位所在的盘块号和块内字节序号分别为（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81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    B 82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     C  82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11          D  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83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12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活学活用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215" y="1268730"/>
            <a:ext cx="8505190" cy="528574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对于具有设备独立性的系统，下列叙述中错误的是（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可以用文件名访问物理设备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可以用逻辑设备名访问物理设备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需要建立逻辑设备与物理设备之间的映射关系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更换物理设备后必须修改访问该设备的应用程序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latinLnBrk="0">
              <a:spcBef>
                <a:spcPts val="120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latinLnBrk="0">
              <a:spcBef>
                <a:spcPts val="12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下列关于驱动程序的叙述中，不正确的是（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）：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驱动程序与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控制方式无关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初始化设备是由驱动程序控制完成的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进程在执行驱动程序时可能进入阻塞态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读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写设备的操作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是由驱动程序控制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完成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活学活用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215" y="1268730"/>
            <a:ext cx="8505190" cy="5285740"/>
          </a:xfrm>
        </p:spPr>
        <p:txBody>
          <a:bodyPr/>
          <a:lstStyle/>
          <a:p>
            <a:pPr marL="0" indent="0" latinLnBrk="0">
              <a:spcBef>
                <a:spcPts val="12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系统缓冲区和用户工作区均采用单缓冲，从外设读入一块数据到系统缓冲区的时间为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，从系统缓冲区读入一块数据到用户工作区的时间为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，对用户工作区中的一块数据进行分析的时间为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。进程从外设读入并分析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个数据块的最短时间是（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）：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200      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 295      C 300      D 390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某文件占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个磁盘块，现要把该文件的磁盘块逐个读入内存。假设一个缓冲区与一个磁盘块大小相同，把一个磁盘块读入缓冲区的时间为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100μs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，将缓冲区传送到用户区的时间是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μs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对一块数据进行分析的时间是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50μs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。在单缓冲区结构下，读入并分析完该文件的最短时间为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1550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μs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），在双缓冲结构下的最短时间为（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1100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μs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latinLnBrk="0">
              <a:spcBef>
                <a:spcPts val="120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latinLnBrk="0">
              <a:spcBef>
                <a:spcPts val="1200"/>
              </a:spcBef>
              <a:buNone/>
            </a:pP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PP_MARK_KEY" val="c172cc89-fdbc-4144-a981-2bb03d051ca4"/>
  <p:tag name="COMMONDATA" val="eyJoZGlkIjoiNWYyODU0MTJjOGFhNmFjNmM3OTgzOTg1Zjk0OGNkZWMifQ=="/>
  <p:tag name="commondata" val="eyJoZGlkIjoiMDhlNTM2MTA4NWNjODIxZmM5YzM4ZTZhYzBmZTk2ZjQifQ=="/>
</p:tagLst>
</file>

<file path=ppt/theme/theme1.xml><?xml version="1.0" encoding="utf-8"?>
<a:theme xmlns:a="http://schemas.openxmlformats.org/drawingml/2006/main" name="1_Radial">
  <a:themeElements>
    <a:clrScheme name="1_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1_Radia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adial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Radia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0</TotalTime>
  <Words>5226</Words>
  <Application>WPS 演示</Application>
  <PresentationFormat>全屏显示(4:3)</PresentationFormat>
  <Paragraphs>305</Paragraphs>
  <Slides>19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19</vt:i4>
      </vt:variant>
    </vt:vector>
  </HeadingPairs>
  <TitlesOfParts>
    <vt:vector size="36" baseType="lpstr">
      <vt:lpstr>Arial</vt:lpstr>
      <vt:lpstr>宋体</vt:lpstr>
      <vt:lpstr>Wingdings</vt:lpstr>
      <vt:lpstr>Times New Roman</vt:lpstr>
      <vt:lpstr>Arial Black</vt:lpstr>
      <vt:lpstr>Arial Narrow</vt:lpstr>
      <vt:lpstr>Wingdings</vt:lpstr>
      <vt:lpstr>仿宋_GB2312</vt:lpstr>
      <vt:lpstr>仿宋</vt:lpstr>
      <vt:lpstr>微软雅黑</vt:lpstr>
      <vt:lpstr>Arial Unicode MS</vt:lpstr>
      <vt:lpstr>仿宋_GB2312</vt:lpstr>
      <vt:lpstr>Wonder Arial</vt:lpstr>
      <vt:lpstr>方正仿宋_GB2312</vt:lpstr>
      <vt:lpstr>1_Radial</vt:lpstr>
      <vt:lpstr>Radial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活学活用</vt:lpstr>
      <vt:lpstr>活学活用</vt:lpstr>
      <vt:lpstr>活学活用</vt:lpstr>
      <vt:lpstr>活学活用</vt:lpstr>
      <vt:lpstr>活学活用</vt:lpstr>
      <vt:lpstr>活学活用</vt:lpstr>
      <vt:lpstr>活学活用</vt:lpstr>
      <vt:lpstr>活学活用</vt:lpstr>
      <vt:lpstr>活学活用</vt:lpstr>
      <vt:lpstr>活学活用</vt:lpstr>
      <vt:lpstr>活学活用</vt:lpstr>
    </vt:vector>
  </TitlesOfParts>
  <Company>雨薇在线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语音信号处理</dc:title>
  <dc:creator>雨薇</dc:creator>
  <cp:lastModifiedBy>郑铁然</cp:lastModifiedBy>
  <cp:revision>151</cp:revision>
  <cp:lastPrinted>2018-09-25T10:48:00Z</cp:lastPrinted>
  <dcterms:created xsi:type="dcterms:W3CDTF">2004-08-18T11:10:00Z</dcterms:created>
  <dcterms:modified xsi:type="dcterms:W3CDTF">2025-12-25T01:30:05Z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7A57BE67A4504502A2FEDA3EA51C5AB4_13</vt:lpwstr>
  </property>
  <property fmtid="{D5CDD505-2E9C-101B-9397-08002B2CF9AE}" pid="3" name="KSOProductBuildVer">
    <vt:lpwstr>2052-12.1.0.24034</vt:lpwstr>
  </property>
</Properties>
</file>