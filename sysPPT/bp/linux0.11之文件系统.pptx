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handoutMasterIdLst>
    <p:handoutMasterId r:id="rId22"/>
  </p:handoutMasterIdLst>
  <p:sldIdLst>
    <p:sldId id="501" r:id="rId5"/>
    <p:sldId id="259" r:id="rId7"/>
    <p:sldId id="1414" r:id="rId8"/>
    <p:sldId id="1428" r:id="rId9"/>
    <p:sldId id="1429" r:id="rId10"/>
    <p:sldId id="1430" r:id="rId11"/>
    <p:sldId id="1431" r:id="rId12"/>
    <p:sldId id="1415" r:id="rId13"/>
    <p:sldId id="1416" r:id="rId14"/>
    <p:sldId id="1417" r:id="rId15"/>
    <p:sldId id="1419" r:id="rId16"/>
    <p:sldId id="1420" r:id="rId17"/>
    <p:sldId id="1433" r:id="rId18"/>
    <p:sldId id="1421" r:id="rId19"/>
    <p:sldId id="1435" r:id="rId20"/>
    <p:sldId id="1436" r:id="rId21"/>
  </p:sldIdLst>
  <p:sldSz cx="9144000" cy="6858000" type="screen4x3"/>
  <p:notesSz cx="6800850" cy="9872345"/>
  <p:custDataLst>
    <p:tags r:id="rId2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CC9900"/>
    <a:srgbClr val="FF99CC"/>
    <a:srgbClr val="16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08" autoAdjust="0"/>
  </p:normalViewPr>
  <p:slideViewPr>
    <p:cSldViewPr showGuides="1">
      <p:cViewPr varScale="1">
        <p:scale>
          <a:sx n="65" d="100"/>
          <a:sy n="65" d="100"/>
        </p:scale>
        <p:origin x="90" y="246"/>
      </p:cViewPr>
      <p:guideLst>
        <p:guide orient="horz" pos="2160"/>
        <p:guide pos="2841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gs" Target="tags/tag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2241" y="1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/>
          <a:lstStyle>
            <a:lvl1pPr algn="r">
              <a:defRPr sz="1200" smtClean="0"/>
            </a:lvl1pPr>
          </a:lstStyle>
          <a:p>
            <a:pPr>
              <a:defRPr/>
            </a:pPr>
            <a:fld id="{EF111691-F249-49BF-AD13-77AC163C2E7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7927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2241" y="9377927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D217722-F9DE-4589-BAF8-332D113C647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035" cy="4931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815" y="0"/>
            <a:ext cx="2947035" cy="4931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39775"/>
            <a:ext cx="493712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780" y="4688963"/>
            <a:ext cx="4987290" cy="44431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9504"/>
            <a:ext cx="2947035" cy="493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815" y="9379504"/>
            <a:ext cx="2947035" cy="493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37847A5-3418-4168-BB03-40E320A0CA1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C12FDF-207D-4315-99CC-760ECF297C16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E933F3D-3132-4E55-B67E-D84038DB376F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 </a:t>
            </a:r>
            <a:r>
              <a:rPr lang="en-US" altLang="zh-CN" dirty="0" err="1" smtClean="0"/>
              <a:t>TSS</a:t>
            </a:r>
            <a:r>
              <a:rPr lang="en-US" altLang="zh-CN" dirty="0" smtClean="0"/>
              <a:t> </a:t>
            </a:r>
            <a:r>
              <a:rPr lang="zh-CN" altLang="en-US" dirty="0" smtClean="0"/>
              <a:t>全称为</a:t>
            </a:r>
            <a:r>
              <a:rPr lang="en-US" altLang="zh-CN" dirty="0" smtClean="0"/>
              <a:t>task state segment</a:t>
            </a:r>
            <a:r>
              <a:rPr lang="zh-CN" altLang="en-US" dirty="0" smtClean="0"/>
              <a:t>，是指在操作系统进程管理的过程中，进程切换时的任务现场信息。</a:t>
            </a:r>
            <a:endParaRPr lang="en-US" altLang="zh-CN" dirty="0" smtClean="0"/>
          </a:p>
          <a:p>
            <a:r>
              <a:rPr lang="en-US" altLang="zh-CN" dirty="0" err="1" smtClean="0"/>
              <a:t>X86</a:t>
            </a:r>
            <a:r>
              <a:rPr lang="zh-CN" altLang="en-US" dirty="0" smtClean="0"/>
              <a:t>体系从硬件上支持任务间的切换。为此目的，它增设了一个新段：任务状态段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TSS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，它和数据段、代码段一样也是一种段，记录了任务的状态信息。　　      与其它段一样，</a:t>
            </a:r>
            <a:r>
              <a:rPr lang="en-US" altLang="zh-CN" dirty="0" err="1" smtClean="0"/>
              <a:t>TSS</a:t>
            </a:r>
            <a:r>
              <a:rPr lang="zh-CN" altLang="en-US" dirty="0" smtClean="0"/>
              <a:t>也有描述它的结构：</a:t>
            </a:r>
            <a:r>
              <a:rPr lang="en-US" altLang="zh-CN" dirty="0" err="1" smtClean="0"/>
              <a:t>TSS</a:t>
            </a:r>
            <a:r>
              <a:rPr lang="zh-CN" altLang="en-US" dirty="0" smtClean="0"/>
              <a:t>描述符表，它记录了一个</a:t>
            </a:r>
            <a:r>
              <a:rPr lang="en-US" altLang="zh-CN" dirty="0" err="1" smtClean="0"/>
              <a:t>TSS</a:t>
            </a:r>
            <a:r>
              <a:rPr lang="zh-CN" altLang="en-US" dirty="0" smtClean="0"/>
              <a:t>的信息，同时还有一个</a:t>
            </a:r>
            <a:r>
              <a:rPr lang="en-US" altLang="zh-CN" dirty="0" err="1" smtClean="0"/>
              <a:t>TR</a:t>
            </a:r>
            <a:r>
              <a:rPr lang="zh-CN" altLang="en-US" dirty="0" smtClean="0"/>
              <a:t>寄存器，它指向当前任务的</a:t>
            </a:r>
            <a:r>
              <a:rPr lang="en-US" altLang="zh-CN" dirty="0" err="1" smtClean="0"/>
              <a:t>TSS</a:t>
            </a:r>
            <a:r>
              <a:rPr lang="zh-CN" altLang="en-US" dirty="0" smtClean="0"/>
              <a:t>。任务切换的时候，</a:t>
            </a:r>
            <a:r>
              <a:rPr lang="en-US" altLang="zh-CN" dirty="0" smtClean="0"/>
              <a:t>CPU</a:t>
            </a:r>
            <a:r>
              <a:rPr lang="zh-CN" altLang="en-US" dirty="0" smtClean="0"/>
              <a:t>会将原寄存器的内容写出到相应的</a:t>
            </a:r>
            <a:r>
              <a:rPr lang="en-US" altLang="zh-CN" dirty="0" err="1" smtClean="0"/>
              <a:t>TSS</a:t>
            </a:r>
            <a:r>
              <a:rPr lang="zh-CN" altLang="en-US" dirty="0" smtClean="0"/>
              <a:t>，同时将新</a:t>
            </a:r>
            <a:r>
              <a:rPr lang="en-US" altLang="zh-CN" dirty="0" err="1" smtClean="0"/>
              <a:t>TSS</a:t>
            </a:r>
            <a:r>
              <a:rPr lang="zh-CN" altLang="en-US" dirty="0" smtClean="0"/>
              <a:t>的内容填到寄存器中，这样就实现了任务的切换。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CR2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CR3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用于分页机制。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CR3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含有存放页目录表页面的物理地址，因此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CR3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也被称为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PDBR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。因为页目录表页面是页对齐的，所以该寄存器只有高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位是有效的。而低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12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位保留供更高级处理器使用，因此在往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CR3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中加载一个新值时低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12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位必须设置为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sz="1200" b="0" i="0" u="none" strike="noStrike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CR2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用于出现页异常时报告出错信息。在报告页异常时，处理器会把引起异常的线性地址存放在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CR2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中。因此操作系统中的页异常处理程序可以通过检查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CR2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的内容来确定线性地址空间中哪一个页面引发了异常。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41D5B-C7CF-41E9-8BFC-B81285AC3D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9342B-1D0C-4C87-A696-AE5BD3D6C0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71257-F651-4830-91FE-B8FD3A2DF0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1B0DD-5CA8-413B-9D98-C20793B9E8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EC62F-676E-4536-9A52-2309C69F88B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A6F8B4-B054-4685-9B5D-BD1CE4E33E8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38BD6-CD08-4B18-A00E-213EF5559B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BF579-F828-4DD0-9748-1571BF19EE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C05E3-AD46-4E9C-B21F-7DEECDF53CB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C2D64-1FDD-46B2-AA0E-566EBA5F561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15900"/>
            <a:ext cx="2084387" cy="58039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15900"/>
            <a:ext cx="6102350" cy="58039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47193-5223-410B-8004-74950257FFB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>
    <p:sndAc>
      <p:endSnd/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28600"/>
            <a:ext cx="2084387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235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FD1BE-9A24-4ABB-8E66-560EA6A1DFC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2C963-E0A7-42F7-8FAD-B21C46696F2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37D3D-CAAF-4017-B871-F905C63F368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A83EA-F16A-41B4-A35C-7CA23289B57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843DB-975B-4589-AE69-FB160CC0C24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C28B7-A46D-492B-B924-04F8242A502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2E4ED-E153-4BBF-9C40-4C1BA4B76FE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E5126-C2C7-4B90-8322-5292A2A408B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46550-8C4D-4F6D-A434-8579F080076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E6D23-AE9F-4212-9947-F857A2BFEF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0B9D0-2EDD-4D8B-9176-4274A3030CE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06450" y="1233488"/>
            <a:ext cx="82296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1032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T0" fmla="*/ 0 w 4917"/>
                <a:gd name="T1" fmla="*/ 0 h 1000"/>
                <a:gd name="T2" fmla="*/ 7775 w 4917"/>
                <a:gd name="T3" fmla="*/ 0 h 1000"/>
                <a:gd name="T4" fmla="*/ 8657 w 4917"/>
                <a:gd name="T5" fmla="*/ 881 h 1000"/>
                <a:gd name="T6" fmla="*/ 7777 w 4917"/>
                <a:gd name="T7" fmla="*/ 1761 h 1000"/>
                <a:gd name="T8" fmla="*/ 0 w 4917"/>
                <a:gd name="T9" fmla="*/ 1761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7"/>
                <a:gd name="T16" fmla="*/ 0 h 1000"/>
                <a:gd name="T17" fmla="*/ 2459 w 4917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159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53163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8AE5B700-EE1E-4D63-B1C2-C88A146C7A2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115888"/>
            <a:ext cx="8686800" cy="6096000"/>
            <a:chOff x="0" y="96"/>
            <a:chExt cx="5472" cy="3840"/>
          </a:xfrm>
        </p:grpSpPr>
        <p:sp>
          <p:nvSpPr>
            <p:cNvPr id="2054" name="AutoShape 3"/>
            <p:cNvSpPr>
              <a:spLocks noChangeArrowheads="1"/>
            </p:cNvSpPr>
            <p:nvPr userDrawn="1"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055" name="AutoShape 4"/>
            <p:cNvSpPr>
              <a:spLocks noChangeArrowheads="1"/>
            </p:cNvSpPr>
            <p:nvPr userDrawn="1"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2261 w 7000"/>
                <a:gd name="T3" fmla="*/ 0 h 1000"/>
                <a:gd name="T4" fmla="*/ 2435 w 7000"/>
                <a:gd name="T5" fmla="*/ 174 h 1000"/>
                <a:gd name="T6" fmla="*/ 2262 w 7000"/>
                <a:gd name="T7" fmla="*/ 348 h 1000"/>
                <a:gd name="T8" fmla="*/ 0 w 7000"/>
                <a:gd name="T9" fmla="*/ 348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" name="Line 5"/>
            <p:cNvSpPr>
              <a:spLocks noChangeShapeType="1"/>
            </p:cNvSpPr>
            <p:nvPr userDrawn="1"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2053" name="Picture 11" descr="index2008_0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6245225"/>
            <a:ext cx="18319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B08F23A-9504-4358-88BF-208BD38AFAE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190" y="1557655"/>
            <a:ext cx="8912860" cy="791845"/>
          </a:xfrm>
        </p:spPr>
        <p:txBody>
          <a:bodyPr/>
          <a:lstStyle/>
          <a:p>
            <a:pPr eaLnBrk="1" hangingPunct="1"/>
            <a:r>
              <a:rPr lang="en-US" altLang="zh-CN"/>
              <a:t>Linux 0.11</a:t>
            </a:r>
            <a:r>
              <a:rPr lang="zh-CN" altLang="en-US"/>
              <a:t>之文件系统</a:t>
            </a:r>
            <a:endParaRPr lang="zh-CN" altLang="en-US" sz="3600" b="1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75" name="图片 6" descr="HIT-Logo-AL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6165850"/>
            <a:ext cx="21605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2"/>
                </a:solidFill>
              </a:rPr>
              <a:t>授课</a:t>
            </a:r>
            <a:r>
              <a:rPr lang="zh-CN" altLang="en-US" dirty="0">
                <a:solidFill>
                  <a:schemeClr val="tx2"/>
                </a:solidFill>
              </a:rPr>
              <a:t>教师</a:t>
            </a:r>
            <a:r>
              <a:rPr lang="zh-CN" altLang="en-US">
                <a:solidFill>
                  <a:schemeClr val="tx2"/>
                </a:solidFill>
              </a:rPr>
              <a:t>：      </a:t>
            </a:r>
            <a:r>
              <a:rPr lang="zh-CN" altLang="en-US" dirty="0">
                <a:solidFill>
                  <a:schemeClr val="tx2"/>
                </a:solidFill>
              </a:rPr>
              <a:t>郑铁然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办公室地址： 哈工大综合楼6</a:t>
            </a:r>
            <a:r>
              <a:rPr lang="en-US" altLang="zh-CN" dirty="0">
                <a:solidFill>
                  <a:schemeClr val="tx2"/>
                </a:solidFill>
              </a:rPr>
              <a:t>03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办公室电话： </a:t>
            </a:r>
            <a:r>
              <a:rPr lang="en-US" altLang="zh-CN" dirty="0">
                <a:solidFill>
                  <a:schemeClr val="tx2"/>
                </a:solidFill>
              </a:rPr>
              <a:t>86417981-11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手机：            </a:t>
            </a:r>
            <a:r>
              <a:rPr lang="en-US" altLang="zh-CN" dirty="0">
                <a:solidFill>
                  <a:schemeClr val="tx2"/>
                </a:solidFill>
              </a:rPr>
              <a:t>13313655979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QQ</a:t>
            </a:r>
            <a:r>
              <a:rPr lang="zh-CN" altLang="en-US" dirty="0">
                <a:solidFill>
                  <a:schemeClr val="tx2"/>
                </a:solidFill>
              </a:rPr>
              <a:t>：              </a:t>
            </a:r>
            <a:r>
              <a:rPr lang="en-US" altLang="zh-CN" dirty="0">
                <a:solidFill>
                  <a:schemeClr val="tx2"/>
                </a:solidFill>
              </a:rPr>
              <a:t>2350562164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Email</a:t>
            </a:r>
            <a:r>
              <a:rPr lang="zh-CN" altLang="en-US" dirty="0">
                <a:solidFill>
                  <a:schemeClr val="tx2"/>
                </a:solidFill>
              </a:rPr>
              <a:t>：           </a:t>
            </a:r>
            <a:r>
              <a:rPr lang="en-US" altLang="zh-CN" dirty="0">
                <a:solidFill>
                  <a:schemeClr val="tx2"/>
                </a:solidFill>
              </a:rPr>
              <a:t>zhengtieran@hit.edu.cn</a:t>
            </a:r>
            <a:r>
              <a:rPr lang="zh-CN" altLang="en-US" dirty="0">
                <a:solidFill>
                  <a:schemeClr val="tx2"/>
                </a:solidFill>
              </a:rPr>
              <a:t>   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chemeClr val="tx2"/>
                </a:solidFill>
              </a:rPr>
              <a:t>                          </a:t>
            </a:r>
            <a:r>
              <a:rPr lang="en-US" altLang="zh-CN" dirty="0">
                <a:solidFill>
                  <a:schemeClr val="tx2"/>
                </a:solidFill>
              </a:rPr>
              <a:t>                          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概要</a:t>
            </a:r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04435"/>
          </a:xfrm>
        </p:spPr>
        <p:txBody>
          <a:bodyPr/>
          <a:lstStyle/>
          <a:p>
            <a:pPr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函数量非常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分成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四层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高速缓冲区的管理程序</a:t>
            </a:r>
            <a:endParaRPr lang="zh-CN" altLang="en-US" sz="2400" b="1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判断数据是否在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高速缓冲区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中，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如果不在则读块设备</a:t>
            </a:r>
            <a:endParaRPr lang="zh-CN" altLang="en-US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如果需要写，则暂时写在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高速缓冲区中（申请空闲的缓冲块），数据同步时才写入设备。</a:t>
            </a:r>
            <a:endParaRPr lang="zh-CN" altLang="en-US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bread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 )       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块读取函数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buffer.c</a:t>
            </a:r>
            <a:endParaRPr lang="zh-CN" altLang="en-US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breada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 )     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块提前预读取函数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buffer.c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bread_page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 )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读取一页内全部块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buffer.c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概要</a:t>
            </a:r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04435"/>
          </a:xfrm>
        </p:spPr>
        <p:txBody>
          <a:bodyPr/>
          <a:lstStyle/>
          <a:p>
            <a:pPr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文件系统底层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new_inode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分配新的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bitmap.c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free_inode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释放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bitmap.c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new_block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分配盘块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bitmap.c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free_block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释放盘块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bitmap.c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truncate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将文件截断为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              truncate.c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iget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装入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inode.c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iput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放回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inode.c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bmap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取盘块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inode.c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namei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将文件名映射到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namei.c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概要</a:t>
            </a:r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04435"/>
          </a:xfrm>
        </p:spPr>
        <p:txBody>
          <a:bodyPr/>
          <a:lstStyle/>
          <a:p>
            <a:pPr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文件系统底层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get_super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取超级快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super.c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put_super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放回超级块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super.c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free_super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释放超级快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super.c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sys_mount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挂载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super.c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None/>
            </a:pP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概要</a:t>
            </a:r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04435"/>
          </a:xfrm>
        </p:spPr>
        <p:txBody>
          <a:bodyPr/>
          <a:lstStyle/>
          <a:p>
            <a:pPr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访问层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读文件系统调用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read_write.c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write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写文件系统调用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read_write.c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3502025"/>
            <a:ext cx="8134350" cy="18954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71550" y="5229225"/>
            <a:ext cx="141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block_dev.c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987675" y="5229225"/>
            <a:ext cx="141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file_dev.c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195570" y="5212715"/>
            <a:ext cx="141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pipe.c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901180" y="5196205"/>
            <a:ext cx="141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char_dev.c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概要</a:t>
            </a:r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605" y="1196975"/>
            <a:ext cx="8229600" cy="5457190"/>
          </a:xfrm>
        </p:spPr>
        <p:txBody>
          <a:bodyPr/>
          <a:lstStyle/>
          <a:p>
            <a:pPr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文件系统高层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open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打开文件系统调用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open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do_execve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exe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close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关闭文件系统调用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open.c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chdir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改变当前目录系统调用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open.c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chroot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改变根目录系统调用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open.c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chmod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改变文件属性系统调用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open.c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chown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改变文件宿主系统调用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open.c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 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创建文件系统调用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open.c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state/fstat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文件状态系统调用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stat.c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dup/dup2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复制文件句柄系统调用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fcntl.c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fcntl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文件控制系统调用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fcntl.c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zh-CN" sz="2100" b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ioctl 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</a:t>
            </a:r>
            <a:r>
              <a:rPr lang="zh-CN" altLang="en-US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输入输出控制系统调用</a:t>
            </a:r>
            <a:r>
              <a:rPr lang="en-US" altLang="zh-CN" sz="21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ioctl.c</a:t>
            </a: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endParaRPr lang="en-US" altLang="zh-CN" sz="21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latinLnBrk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ü"/>
            </a:pP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重新分析进程控制块</a:t>
            </a:r>
            <a:r>
              <a:rPr lang="en-US" altLang="zh-CN" dirty="0" smtClean="0"/>
              <a:t>PCB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66800"/>
            <a:ext cx="8686800" cy="579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重新分析进程控制块</a:t>
            </a:r>
            <a:r>
              <a:rPr lang="en-US" altLang="zh-CN" dirty="0" smtClean="0"/>
              <a:t>PCB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255713"/>
            <a:ext cx="7689850" cy="554253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 bwMode="auto">
          <a:xfrm>
            <a:off x="609600" y="3962400"/>
            <a:ext cx="7467600" cy="1143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09600" y="4508500"/>
            <a:ext cx="7467600" cy="2921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bldLvl="0" animBg="1"/>
      <p:bldP spid="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重新分析进程控制块</a:t>
            </a:r>
            <a:r>
              <a:rPr lang="en-US" altLang="zh-CN" dirty="0" smtClean="0"/>
              <a:t>PCB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62000" y="2133600"/>
            <a:ext cx="7848600" cy="2360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latinLnBrk="0">
              <a:lnSpc>
                <a:spcPct val="13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 </a:t>
            </a:r>
            <a:r>
              <a:rPr lang="zh-CN" alt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m_inode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pwd;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0">
              <a:lnSpc>
                <a:spcPct val="13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 </a:t>
            </a:r>
            <a:r>
              <a:rPr lang="zh-CN" alt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m_inode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root;	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0">
              <a:lnSpc>
                <a:spcPct val="130000"/>
              </a:lnSpc>
            </a:pP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m_inode 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executable;	</a:t>
            </a:r>
            <a:r>
              <a:rPr lang="en-US" altLang="zh-C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进程可执行文件</a:t>
            </a:r>
            <a:endParaRPr lang="en-US" altLang="zh-CN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0">
              <a:lnSpc>
                <a:spcPct val="130000"/>
              </a:lnSpc>
            </a:pP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 </a:t>
            </a:r>
            <a:r>
              <a:rPr lang="zh-CN" alt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filp[NR_OPEN]; </a:t>
            </a:r>
            <a:r>
              <a:rPr lang="en-US" altLang="zh-C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进程操作的其他文件</a:t>
            </a:r>
            <a:endParaRPr lang="en-US" altLang="zh-CN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m_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inode、file这两个数据结构是关键</a:t>
            </a:r>
            <a:r>
              <a:rPr lang="zh-CN" altLang="en-US" b="1" dirty="0" smtClean="0">
                <a:solidFill>
                  <a:srgbClr val="0070C0"/>
                </a:solidFill>
              </a:rPr>
              <a:t>！</a:t>
            </a:r>
            <a:r>
              <a:rPr lang="zh-CN" altLang="en-US" dirty="0" smtClean="0">
                <a:solidFill>
                  <a:srgbClr val="C00000"/>
                </a:solidFill>
              </a:rPr>
              <a:t>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1371600"/>
            <a:ext cx="685800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进程与文件连接的关键结构？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dirty="0" err="1" smtClean="0"/>
              <a:t>MINIX</a:t>
            </a:r>
            <a:r>
              <a:rPr lang="zh-CN" altLang="en-US" dirty="0" smtClean="0"/>
              <a:t>文件系统中针对</a:t>
            </a:r>
            <a:r>
              <a:rPr lang="en-US" altLang="zh-CN" dirty="0" err="1" smtClean="0"/>
              <a:t>inode</a:t>
            </a:r>
            <a:r>
              <a:rPr lang="zh-CN" altLang="en-US" dirty="0" smtClean="0"/>
              <a:t>的结构</a:t>
            </a:r>
            <a:endParaRPr lang="zh-CN" altLang="en-US" dirty="0" smtClean="0"/>
          </a:p>
        </p:txBody>
      </p:sp>
      <p:pic>
        <p:nvPicPr>
          <p:cNvPr id="43011" name="Picture 27" descr="MINIX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5531"/>
            <a:ext cx="6781800" cy="530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29"/>
          <p:cNvSpPr>
            <a:spLocks noChangeArrowheads="1"/>
          </p:cNvSpPr>
          <p:nvPr/>
        </p:nvSpPr>
        <p:spPr bwMode="auto">
          <a:xfrm>
            <a:off x="2438400" y="6476999"/>
            <a:ext cx="48006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 err="1"/>
              <a:t>MINIX</a:t>
            </a:r>
            <a:r>
              <a:rPr lang="zh-CN" altLang="en-US" sz="2000" dirty="0"/>
              <a:t>文件系统</a:t>
            </a:r>
            <a:r>
              <a:rPr lang="en-US" altLang="zh-CN" sz="2000" dirty="0"/>
              <a:t>1.0</a:t>
            </a:r>
            <a:r>
              <a:rPr lang="zh-CN" altLang="en-US" sz="2000" dirty="0" smtClean="0"/>
              <a:t>的</a:t>
            </a:r>
            <a:r>
              <a:rPr lang="en-US" altLang="zh-CN" sz="2000" dirty="0" err="1" smtClean="0"/>
              <a:t>m_node</a:t>
            </a:r>
            <a:r>
              <a:rPr lang="zh-CN" altLang="en-US" sz="2000" dirty="0" smtClean="0"/>
              <a:t>数据结构</a:t>
            </a:r>
            <a:endParaRPr lang="zh-CN" altLang="en-US" sz="2000" dirty="0"/>
          </a:p>
        </p:txBody>
      </p:sp>
      <p:grpSp>
        <p:nvGrpSpPr>
          <p:cNvPr id="3" name="组合 2"/>
          <p:cNvGrpSpPr/>
          <p:nvPr/>
        </p:nvGrpSpPr>
        <p:grpSpPr>
          <a:xfrm>
            <a:off x="6172200" y="1075531"/>
            <a:ext cx="2819400" cy="3910631"/>
            <a:chOff x="6477000" y="1814910"/>
            <a:chExt cx="2819400" cy="391063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0" y="1981200"/>
              <a:ext cx="2819400" cy="3744341"/>
            </a:xfrm>
            <a:prstGeom prst="rect">
              <a:avLst/>
            </a:prstGeom>
          </p:spPr>
        </p:pic>
        <p:sp>
          <p:nvSpPr>
            <p:cNvPr id="6" name="Rectangle 29"/>
            <p:cNvSpPr>
              <a:spLocks noChangeArrowheads="1"/>
            </p:cNvSpPr>
            <p:nvPr/>
          </p:nvSpPr>
          <p:spPr bwMode="auto">
            <a:xfrm>
              <a:off x="7213600" y="1814910"/>
              <a:ext cx="1600200" cy="718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 smtClean="0"/>
                <a:t>Linux\</a:t>
              </a:r>
              <a:r>
                <a:rPr lang="en-US" altLang="zh-CN" sz="2000" dirty="0" err="1" smtClean="0"/>
                <a:t>fs.h</a:t>
              </a:r>
              <a:endParaRPr lang="zh-CN" alt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Linux0.11</a:t>
            </a:r>
            <a:r>
              <a:rPr lang="zh-CN" altLang="en-US" dirty="0" smtClean="0"/>
              <a:t>进程与文件的连接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3415197"/>
            <a:ext cx="7921625" cy="115680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nn-NO" altLang="zh-CN" sz="1800" b="1" kern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nn-NO" altLang="zh-CN" sz="1800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NR_OPEN 20  //</a:t>
            </a:r>
            <a:r>
              <a:rPr lang="zh-CN" altLang="en-US" sz="1800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一个进程可以打开文件的最</a:t>
            </a:r>
            <a:r>
              <a:rPr lang="zh-CN" altLang="en-US" sz="1800" b="1" kern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大数</a:t>
            </a:r>
            <a:r>
              <a:rPr lang="zh-CN" altLang="en-US" sz="1800" b="1" kern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（包括相同的</a:t>
            </a:r>
            <a:r>
              <a:rPr lang="zh-CN" altLang="en-US" sz="1800" b="1" kern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nn-NO" altLang="zh-CN" sz="1800" b="1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nn-NO" altLang="zh-CN" sz="1800" b="1" kern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nn-NO" altLang="zh-CN" sz="1800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NR_FILE 64   //</a:t>
            </a:r>
            <a:r>
              <a:rPr lang="zh-CN" altLang="en-US" sz="1800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操作系统可以打开</a:t>
            </a:r>
            <a:r>
              <a:rPr lang="zh-CN" altLang="en-US" sz="1800" b="1" kern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文件总数（包括相同的</a:t>
            </a:r>
            <a:r>
              <a:rPr lang="zh-CN" altLang="en-US" sz="1800" b="1" kern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800" b="1" kern="12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nn-NO" altLang="zh-CN" sz="1800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NR_INODE 32  //</a:t>
            </a:r>
            <a:r>
              <a:rPr lang="zh-CN" altLang="en-US" sz="1800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操作系统中可以打开</a:t>
            </a:r>
            <a:r>
              <a:rPr lang="zh-CN" altLang="en-US" sz="1800" b="1" kern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</a:t>
            </a:r>
            <a:r>
              <a:rPr lang="zh-CN" altLang="en-US" sz="1800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文件总数</a:t>
            </a:r>
            <a:endParaRPr lang="nn-NO" altLang="zh-CN" sz="1800" b="1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nn-NO" altLang="zh-CN" sz="1800" kern="1200" dirty="0">
              <a:solidFill>
                <a:srgbClr val="FF0000"/>
              </a:solidFill>
              <a:latin typeface="+mn-ea"/>
            </a:endParaRPr>
          </a:p>
          <a:p>
            <a:pPr>
              <a:defRPr/>
            </a:pPr>
            <a:endParaRPr lang="zh-CN" altLang="en-US" sz="1800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2900" y="1222889"/>
            <a:ext cx="864870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18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Linux/</a:t>
            </a:r>
            <a:r>
              <a:rPr lang="en-US" altLang="zh-CN" sz="1800" b="1" dirty="0" err="1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fs.h</a:t>
            </a:r>
            <a:endParaRPr lang="en-US" altLang="zh-CN" sz="1800" b="1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struct </a:t>
            </a:r>
            <a:r>
              <a:rPr lang="zh-CN" altLang="en-US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file {	</a:t>
            </a:r>
            <a:endParaRPr lang="en-US" altLang="zh-CN" sz="18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unsigned </a:t>
            </a:r>
            <a:r>
              <a:rPr lang="zh-CN" altLang="en-US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short f_mode;	</a:t>
            </a:r>
            <a:r>
              <a:rPr lang="en-US" altLang="zh-CN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</a:t>
            </a:r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文件操作模式</a:t>
            </a:r>
            <a:endParaRPr lang="en-US" altLang="zh-CN" sz="18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unsigned </a:t>
            </a:r>
            <a:r>
              <a:rPr lang="zh-CN" altLang="en-US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short f_flags;	</a:t>
            </a:r>
            <a:r>
              <a:rPr lang="en-US" altLang="zh-CN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</a:t>
            </a:r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文件打开控制标志</a:t>
            </a:r>
            <a:endParaRPr lang="en-US" altLang="zh-CN" sz="18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sz="1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unsigned </a:t>
            </a:r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short f_count</a:t>
            </a:r>
            <a:r>
              <a:rPr lang="zh-CN" altLang="en-US" sz="1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    </a:t>
            </a:r>
            <a:r>
              <a:rPr lang="en-US" altLang="zh-CN" sz="1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//</a:t>
            </a:r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当前</a:t>
            </a:r>
            <a:r>
              <a:rPr lang="zh-CN" altLang="en-US" sz="1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文件打开的次数</a:t>
            </a:r>
            <a:endParaRPr lang="en-US" altLang="zh-CN" sz="18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sz="1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struct </a:t>
            </a:r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m_inode * f_inode</a:t>
            </a:r>
            <a:r>
              <a:rPr lang="zh-CN" altLang="en-US" sz="1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  </a:t>
            </a:r>
            <a:r>
              <a:rPr lang="en-US" altLang="zh-CN" sz="1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</a:t>
            </a:r>
            <a:r>
              <a:rPr lang="zh-CN" altLang="en-US" sz="1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指向文件对应的</a:t>
            </a:r>
            <a:r>
              <a:rPr lang="en-US" altLang="zh-CN" sz="1800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1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1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18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inode_table</a:t>
            </a:r>
            <a:r>
              <a:rPr lang="zh-CN" altLang="en-US" sz="1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中）</a:t>
            </a:r>
            <a:r>
              <a:rPr lang="zh-CN" altLang="en-US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endParaRPr lang="en-US" altLang="zh-CN" sz="18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off</a:t>
            </a:r>
            <a:r>
              <a:rPr lang="zh-CN" altLang="en-US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_t f_pos;    </a:t>
            </a:r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</a:t>
            </a:r>
            <a:r>
              <a:rPr lang="en-US" altLang="zh-CN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//</a:t>
            </a:r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文件位置（读写偏移位置）</a:t>
            </a:r>
            <a:endParaRPr lang="en-US" altLang="zh-CN" sz="18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lang="en-US" altLang="zh-CN" sz="1800" b="1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7502" y="5132387"/>
            <a:ext cx="836930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fs/</a:t>
            </a:r>
            <a:r>
              <a:rPr lang="en-US" altLang="zh-CN" sz="1800" b="1" dirty="0" err="1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file_table.c</a:t>
            </a:r>
            <a:endParaRPr lang="en-US" altLang="zh-CN" sz="1800" b="1" dirty="0" smtClean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struct file file_table[NR_FILE];</a:t>
            </a:r>
            <a:r>
              <a:rPr lang="en-US" altLang="zh-CN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//file</a:t>
            </a:r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数组，记录操作系统打开文件信息</a:t>
            </a:r>
            <a:endParaRPr lang="zh-CN" altLang="en-US" sz="18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4800" y="4465348"/>
            <a:ext cx="716280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18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Linux/</a:t>
            </a:r>
            <a:r>
              <a:rPr lang="en-US" altLang="zh-CN" sz="1800" b="1" dirty="0" err="1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sched.h</a:t>
            </a:r>
            <a:endParaRPr lang="en-US" altLang="zh-CN" sz="1800" b="1" dirty="0" smtClean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altLang="zh-CN" sz="1800" b="1" dirty="0" err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struct</a:t>
            </a:r>
            <a:r>
              <a:rPr lang="en-US" altLang="zh-CN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file * </a:t>
            </a:r>
            <a:r>
              <a:rPr lang="en-US" altLang="zh-CN" sz="18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filp</a:t>
            </a:r>
            <a:r>
              <a:rPr lang="en-US" altLang="zh-CN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</a:t>
            </a:r>
            <a:r>
              <a:rPr lang="en-US" altLang="zh-CN" sz="18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NR_OPEN</a:t>
            </a:r>
            <a:r>
              <a:rPr lang="en-US" altLang="zh-CN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];  //</a:t>
            </a:r>
            <a:r>
              <a:rPr lang="zh-CN" altLang="en-US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管理进程使用文件的指针数组</a:t>
            </a:r>
            <a:endParaRPr lang="en-US" altLang="zh-CN" sz="18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4801" y="5781456"/>
            <a:ext cx="6476999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zh-CN" sz="18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fs/</a:t>
            </a:r>
            <a:r>
              <a:rPr lang="en-US" altLang="zh-CN" sz="1800" b="1" dirty="0" err="1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inode.c</a:t>
            </a:r>
            <a:endParaRPr lang="en-US" altLang="zh-CN" sz="18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altLang="zh-CN" sz="1800" b="1" dirty="0" err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struct</a:t>
            </a:r>
            <a:r>
              <a:rPr lang="en-US" altLang="zh-CN" sz="1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8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m_inode</a:t>
            </a:r>
            <a:r>
              <a:rPr lang="en-US" altLang="zh-CN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8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inode_table</a:t>
            </a:r>
            <a:r>
              <a:rPr lang="en-US" altLang="zh-CN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</a:t>
            </a:r>
            <a:r>
              <a:rPr lang="en-US" altLang="zh-CN" sz="18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NR_INODE</a:t>
            </a:r>
            <a:r>
              <a:rPr lang="en-US" altLang="zh-CN" sz="1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]={{0,},};</a:t>
            </a:r>
            <a:endParaRPr lang="en-US" altLang="zh-CN" sz="18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381000" y="4465348"/>
            <a:ext cx="821944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2" grpId="0"/>
      <p:bldP spid="4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Linux0.11</a:t>
            </a:r>
            <a:r>
              <a:rPr lang="zh-CN" altLang="en-US" dirty="0" smtClean="0">
                <a:sym typeface="+mn-ea"/>
              </a:rPr>
              <a:t>进程与文件的连接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8" name="图片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1" t="36346" r="26665" b="14983"/>
          <a:stretch>
            <a:fillRect/>
          </a:stretch>
        </p:blipFill>
        <p:spPr bwMode="auto">
          <a:xfrm>
            <a:off x="323850" y="1417955"/>
            <a:ext cx="8382000" cy="520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进程打开文件时数据结构的建立</a:t>
            </a:r>
            <a:endParaRPr lang="zh-CN" altLang="en-US" dirty="0" smtClean="0"/>
          </a:p>
        </p:txBody>
      </p:sp>
      <p:sp>
        <p:nvSpPr>
          <p:cNvPr id="107523" name="内容占位符 2"/>
          <p:cNvSpPr>
            <a:spLocks noGrp="1"/>
          </p:cNvSpPr>
          <p:nvPr>
            <p:ph idx="1"/>
          </p:nvPr>
        </p:nvSpPr>
        <p:spPr>
          <a:xfrm>
            <a:off x="0" y="1268413"/>
            <a:ext cx="9144000" cy="4525962"/>
          </a:xfrm>
        </p:spPr>
        <p:txBody>
          <a:bodyPr/>
          <a:lstStyle/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打开文件</a:t>
            </a:r>
            <a:endParaRPr lang="zh-CN" altLang="en-US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）将用户进程打开的文件（句柄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）在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filp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[20]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中进行登记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）建立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filp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与内核中的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file_table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[64]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进行连接</a:t>
            </a:r>
            <a:endParaRPr lang="zh-CN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）将要打开文件的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节点在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file_table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[64]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中进行登记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）将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打开的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节点登记到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inode_table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[32]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filp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是进程的打开文件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表；</a:t>
            </a:r>
            <a:endParaRPr lang="zh-CN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提问：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file_table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是系统的打开文件表么？</a:t>
            </a:r>
            <a:endParaRPr lang="zh-CN" altLang="en-US" sz="2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提问：哪个数据结构是系统的打开文件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表？</a:t>
            </a:r>
            <a:endParaRPr lang="zh-CN" altLang="en-US" sz="2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sz="2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7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7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代码</a:t>
            </a:r>
            <a:r>
              <a:rPr lang="zh-CN" altLang="en-US"/>
              <a:t>阅读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读一下</a:t>
            </a:r>
            <a:r>
              <a:rPr lang="en-US" altLang="zh-CN"/>
              <a:t>open</a:t>
            </a:r>
            <a:r>
              <a:rPr lang="zh-CN" altLang="en-US"/>
              <a:t>和</a:t>
            </a:r>
            <a:r>
              <a:rPr lang="en-US" altLang="zh-CN"/>
              <a:t>close</a:t>
            </a:r>
            <a:r>
              <a:rPr lang="zh-CN" altLang="en-US"/>
              <a:t>的系统调用</a:t>
            </a:r>
            <a:r>
              <a:rPr lang="zh-CN" altLang="en-US"/>
              <a:t>函数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提问：</a:t>
            </a:r>
            <a:r>
              <a:rPr lang="en-US" altLang="zh-CN">
                <a:solidFill>
                  <a:srgbClr val="FF0000"/>
                </a:solidFill>
              </a:rPr>
              <a:t>file</a:t>
            </a:r>
            <a:r>
              <a:rPr lang="zh-CN" altLang="en-US">
                <a:solidFill>
                  <a:srgbClr val="FF0000"/>
                </a:solidFill>
              </a:rPr>
              <a:t>结构中的</a:t>
            </a:r>
            <a:r>
              <a:rPr lang="en-US" altLang="zh-CN">
                <a:solidFill>
                  <a:srgbClr val="FF0000"/>
                </a:solidFill>
              </a:rPr>
              <a:t>f_count</a:t>
            </a:r>
            <a:r>
              <a:rPr lang="zh-CN" altLang="en-US">
                <a:solidFill>
                  <a:srgbClr val="FF0000"/>
                </a:solidFill>
              </a:rPr>
              <a:t>到底有什么用？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代码</a:t>
            </a:r>
            <a:r>
              <a:rPr lang="zh-CN" altLang="en-US"/>
              <a:t>阅读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读一下底层的</a:t>
            </a:r>
            <a:r>
              <a:rPr lang="zh-CN" altLang="en-US"/>
              <a:t>函数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5825ba92-c481-4c68-9cac-59e3dc06af8c"/>
  <p:tag name="COMMONDATA" val="eyJoZGlkIjoiMTdlMWFlOWY3ODUzY2IxNWQ1YmNlMzM3YjllMWJkOGIifQ=="/>
</p:tagLst>
</file>

<file path=ppt/theme/theme1.xml><?xml version="1.0" encoding="utf-8"?>
<a:theme xmlns:a="http://schemas.openxmlformats.org/drawingml/2006/main" name="1_Radial">
  <a:themeElements>
    <a:clrScheme name="1_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1_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0</TotalTime>
  <Words>2821</Words>
  <Application>WPS 演示</Application>
  <PresentationFormat>全屏显示(4:3)</PresentationFormat>
  <Paragraphs>152</Paragraphs>
  <Slides>16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Times New Roman</vt:lpstr>
      <vt:lpstr>Arial Black</vt:lpstr>
      <vt:lpstr>Arial Narrow</vt:lpstr>
      <vt:lpstr>Wingdings</vt:lpstr>
      <vt:lpstr>Webdings</vt:lpstr>
      <vt:lpstr>微软雅黑</vt:lpstr>
      <vt:lpstr>Arial Unicode MS</vt:lpstr>
      <vt:lpstr>1_Radial</vt:lpstr>
      <vt:lpstr>Radial</vt:lpstr>
      <vt:lpstr>默认设计模板</vt:lpstr>
      <vt:lpstr>Linux 0.11之文件系统</vt:lpstr>
      <vt:lpstr>PowerPoint 演示文稿</vt:lpstr>
      <vt:lpstr>PCB中的关键元素</vt:lpstr>
      <vt:lpstr>概要说明</vt:lpstr>
      <vt:lpstr>概要说明</vt:lpstr>
      <vt:lpstr>概要说明</vt:lpstr>
      <vt:lpstr>概要说明</vt:lpstr>
      <vt:lpstr>重新分析进程控制块PCB</vt:lpstr>
      <vt:lpstr>重新分析进程控制块PCB</vt:lpstr>
      <vt:lpstr>重新分析进程控制块PCB</vt:lpstr>
      <vt:lpstr>MINIX文件系统中针对inode的结构</vt:lpstr>
      <vt:lpstr>Linux0.11进程与文件的连接</vt:lpstr>
      <vt:lpstr>PowerPoint 演示文稿</vt:lpstr>
      <vt:lpstr>进程打开文件时数据结构的建立</vt:lpstr>
      <vt:lpstr>PowerPoint 演示文稿</vt:lpstr>
      <vt:lpstr>PowerPoint 演示文稿</vt:lpstr>
    </vt:vector>
  </TitlesOfParts>
  <Company>雨薇在线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语音信号处理</dc:title>
  <dc:creator>雨薇</dc:creator>
  <cp:lastModifiedBy>郑铁然</cp:lastModifiedBy>
  <cp:revision>219</cp:revision>
  <cp:lastPrinted>2019-07-15T08:06:00Z</cp:lastPrinted>
  <dcterms:created xsi:type="dcterms:W3CDTF">2004-08-18T11:10:00Z</dcterms:created>
  <dcterms:modified xsi:type="dcterms:W3CDTF">2025-12-22T08:06:49Z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8A09CC2EF0314B08BA16D9BF52CA0A9E_13</vt:lpwstr>
  </property>
  <property fmtid="{D5CDD505-2E9C-101B-9397-08002B2CF9AE}" pid="3" name="KSOProductBuildVer">
    <vt:lpwstr>2052-12.1.0.24034</vt:lpwstr>
  </property>
</Properties>
</file>